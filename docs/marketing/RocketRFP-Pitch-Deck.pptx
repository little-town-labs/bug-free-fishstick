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548640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Inter"/>
              </a:rPr>
              <a:t>Rocket</a:t>
            </a:r>
            <a:r>
              <a:rPr sz="7200" b="1">
                <a:solidFill>
                  <a:srgbClr val="FF6B35"/>
                </a:solidFill>
                <a:latin typeface="Inter"/>
              </a:rPr>
              <a:t>RFP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Inter"/>
              </a:rPr>
              <a:t>AI-Powered Proposal Response, From Days to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Inter"/>
              </a:rPr>
              <a:t>Win more bids without growing the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B3B"/>
                </a:solidFill>
                <a:latin typeface="Inter"/>
              </a:rPr>
              <a:t>Customer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B3B"/>
                </a:solidFill>
                <a:latin typeface="Inter"/>
              </a:rPr>
              <a:t>Monday morning, your proposal team is buried.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532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B1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1E293B"/>
                </a:solidFill>
                <a:latin typeface="Inter"/>
              </a:rPr>
              <a:t>⏱️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28800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B3B"/>
                </a:solidFill>
                <a:latin typeface="Inter"/>
              </a:rPr>
              <a:t>Days lost per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49834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Inter"/>
              </a:rPr>
              <a:t>A single RFP eats 3–7 days of senior time, copy-pasted from old win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532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B1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1E293B"/>
                </a:solidFill>
                <a:latin typeface="Inter"/>
              </a:rP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28800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B3B"/>
                </a:solidFill>
                <a:latin typeface="Inter"/>
              </a:rPr>
              <a:t>Format chaos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49834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Inter"/>
              </a:rPr>
              <a:t>PDFs, Word docs, web portals with character limits — no single tool handles them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532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B1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1E293B"/>
                </a:solidFill>
                <a:latin typeface="Inter"/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97680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B3B"/>
                </a:solidFill>
                <a:latin typeface="Inter"/>
              </a:rPr>
              <a:t>Knowledge scattered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49834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Inter"/>
              </a:rPr>
              <a:t>Past projects, certs, bios, and pricing live in Slack, email, and someone's desktop.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532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B1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25196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1E293B"/>
                </a:solidFill>
                <a:latin typeface="Inter"/>
              </a:rPr>
              <a:t>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297680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B3B"/>
                </a:solidFill>
                <a:latin typeface="Inter"/>
              </a:rPr>
              <a:t>Bids left on the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74920"/>
            <a:ext cx="49834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Inter"/>
              </a:rPr>
              <a:t>Most teams respond to under 20% of qualified opportunities — pure capacity loss.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1B3B"/>
                </a:solidFill>
                <a:latin typeface="Inter"/>
              </a:rPr>
              <a:t>RocketRFP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Inter"/>
              </a:rPr>
              <a:t>Confidential  ·  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THE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B3B"/>
                </a:solidFill>
                <a:latin typeface="Inter"/>
              </a:rPr>
              <a:t>What it actually costs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70332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703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>
                <a:solidFill>
                  <a:srgbClr val="3B82F6"/>
                </a:solidFill>
                <a:latin typeface="Inter"/>
              </a:rPr>
              <a:t>$5K–$25K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E293B"/>
                </a:solidFill>
                <a:latin typeface="Inter"/>
              </a:rPr>
              <a:t>Labor cost per RFP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70332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94560"/>
            <a:ext cx="3703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>
                <a:solidFill>
                  <a:srgbClr val="FF6B35"/>
                </a:solidFill>
                <a:latin typeface="Inter"/>
              </a:rPr>
              <a:t>3–7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33756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E293B"/>
                </a:solidFill>
                <a:latin typeface="Inter"/>
              </a:rPr>
              <a:t>Senior time per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37360"/>
            <a:ext cx="370332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B1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703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>
                <a:solidFill>
                  <a:srgbClr val="0B1B3B"/>
                </a:solidFill>
                <a:latin typeface="Inter"/>
              </a:rPr>
              <a:t>&lt;20%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33756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E293B"/>
                </a:solidFill>
                <a:latin typeface="Inter"/>
              </a:rPr>
              <a:t>Of qualified bids your team can answer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34840"/>
            <a:ext cx="11091672" cy="1554480"/>
          </a:xfrm>
          <a:prstGeom prst="roundRect">
            <a:avLst>
              <a:gd name="adj" fmla="val 12000"/>
            </a:avLst>
          </a:prstGeom>
          <a:solidFill>
            <a:srgbClr val="0B1B3B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If your team could answer 3× more RFPs with the same headcount,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6B35"/>
                </a:solidFill>
                <a:latin typeface="Inter"/>
              </a:rPr>
              <a:t>what would that do to your pipeline?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1B3B"/>
                </a:solidFill>
                <a:latin typeface="Inter"/>
              </a:rPr>
              <a:t>RocketRFP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Inter"/>
              </a:rPr>
              <a:t>Confidential  ·  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B3B"/>
                </a:solidFill>
                <a:latin typeface="Inter"/>
              </a:rPr>
              <a:t>Two loops. One smarter proposal every time.</a:t>
            </a:r>
          </a:p>
        </p:txBody>
      </p:sp>
      <p:pic>
        <p:nvPicPr>
          <p:cNvPr id="6" name="Picture 5" descr="01-dual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91672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Inter"/>
              </a:rPr>
              <a:t>Your services are standardized. Customer RFPs are variable. RocketRFP is the intelligent mapping in between.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1B3B"/>
                </a:solidFill>
                <a:latin typeface="Inter"/>
              </a:rPr>
              <a:t>RocketRFP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Inter"/>
              </a:rPr>
              <a:t>Confidential  ·  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TURN 50 PAGES INTO A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B3B"/>
                </a:solidFill>
                <a:latin typeface="Inter"/>
              </a:rPr>
              <a:t>Loop 1 — Smart Intake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0352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Inter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48463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Inter"/>
              </a:rPr>
              <a:t>📄  A 50-page PDF.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Inter"/>
              </a:rPr>
              <a:t/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Inter"/>
              </a:rPr>
              <a:t>🌐  A web portal with questions buried in tabs.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Inter"/>
              </a:rPr>
              <a:t/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Inter"/>
              </a:rPr>
              <a:t>📋  Hours of reading just to know what's being asked.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Inter"/>
              </a:rPr>
              <a:t/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Inter"/>
              </a:rPr>
              <a:t>❓  Easy to miss a required cert, deliverable, or page-limit rule.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303520" cy="4206240"/>
          </a:xfrm>
          <a:prstGeom prst="roundRect">
            <a:avLst>
              <a:gd name="adj" fmla="val 12000"/>
            </a:avLst>
          </a:prstGeom>
          <a:solidFill>
            <a:srgbClr val="0B1B3B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AFTER  ·  ~2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8463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Inter"/>
              </a:rPr>
              <a:t>✅  27 questions extracted and tagged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Inter"/>
              </a:rPr>
              <a:t>✅  6 required deliverables flagged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Inter"/>
              </a:rPr>
              <a:t>✅  Submission rules captured (page limits, format, due date)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Inter"/>
              </a:rPr>
              <a:t>✅  Human reviews the RFP profile before any drafting starts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1B3B"/>
                </a:solidFill>
                <a:latin typeface="Inter"/>
              </a:rPr>
              <a:t>RocketRFP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Inter"/>
              </a:rPr>
              <a:t>Confidential  ·  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WHERE THE WORK ACTUALLY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B3B"/>
                </a:solidFill>
                <a:latin typeface="Inter"/>
              </a:rPr>
              <a:t>Loop 2 — The Drafting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Side-by-side editor. AI proposes. You approve, edit, or chat with your knowledge 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39496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0B1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Inter"/>
              </a:rPr>
              <a:t>RFP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Inter"/>
              </a:rPr>
              <a:t>"Describe your firm's experience delivering similar projects for public-sector clients in the last 5 years. Include outcomes and references."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11680"/>
            <a:ext cx="5394960" cy="32918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6B35"/>
                </a:solidFill>
                <a:latin typeface="Inter"/>
              </a:rPr>
              <a:t>AI DRAFT  ·  EDITABLE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Inter"/>
              </a:rPr>
              <a:t>Over the last 5 years, our firm has delivered 14 comparable engagements for public-sector clients, including the City of St. Peters water modernization (2024) and the STLCC facilities program (2023)…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Inter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Inter"/>
              </a:rPr>
              <a:t>[Pulled from: 3 case studies, 2 references]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544068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548640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▶  Implement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778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B3B"/>
                </a:solidFill>
                <a:latin typeface="Inter"/>
              </a:rPr>
              <a:t>💬  Chat sidecar: "Find outcomes from our 2024 healthcare project in Missouri." — answer in seconds.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1B3B"/>
                </a:solidFill>
                <a:latin typeface="Inter"/>
              </a:rPr>
              <a:t>RocketRFP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Inter"/>
              </a:rPr>
              <a:t>Confidential  ·  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THE COMPOUNDING ASSET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B3B"/>
                </a:solidFill>
                <a:latin typeface="Inter"/>
              </a:rPr>
              <a:t>Build your knowledge base once. Reuse it forever.</a:t>
            </a:r>
          </a:p>
        </p:txBody>
      </p:sp>
      <p:pic>
        <p:nvPicPr>
          <p:cNvPr id="6" name="Picture 5" descr="03-knowledge-fly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WHAT GOES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1488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Inter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48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B3B"/>
                </a:solidFill>
                <a:latin typeface="Inter"/>
              </a:rPr>
              <a:t>Company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History, certs, bios,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017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Inter"/>
              </a:rPr>
              <a:t>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017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B3B"/>
                </a:solidFill>
                <a:latin typeface="Inter"/>
              </a:rPr>
              <a:t>Service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375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Pricing, SLAs, technical specs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886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Inter"/>
              </a:rPr>
              <a:t>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8862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B3B"/>
                </a:solidFill>
                <a:latin typeface="Inter"/>
              </a:rPr>
              <a:t>Past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206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Outcomes, testimonials, 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754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Inter"/>
              </a:rP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754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B3B"/>
                </a:solidFill>
                <a:latin typeface="Inter"/>
              </a:rPr>
              <a:t>Template library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074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Proven "why us" answers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6692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Inter"/>
              </a:rPr>
              <a:t>Secure &amp; redacted. You control what gets ingested.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1B3B"/>
                </a:solidFill>
                <a:latin typeface="Inter"/>
              </a:rPr>
              <a:t>RocketRFP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Inter"/>
              </a:rPr>
              <a:t>Confidential  ·  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BEFORE /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B3B"/>
                </a:solidFill>
                <a:latin typeface="Inter"/>
              </a:rPr>
              <a:t>What changes for your team.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Inter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50292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Inter"/>
              </a:rPr>
              <a:t>Mon  ·  Read the 60-page RFP, build a Q checklist by hand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Inter"/>
              </a:rPr>
              <a:t>Tue  ·  Hunt through Slack and old proposals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Inter"/>
              </a:rPr>
              <a:t>Wed  ·  First draft, then chase SMEs for missing answers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Inter"/>
              </a:rPr>
              <a:t>Thu  ·  Reformat to match the customer's template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Inter"/>
              </a:rPr>
              <a:t>Fri  ·  Review, sign-off, submit — late afternoon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440680" cy="4480560"/>
          </a:xfrm>
          <a:prstGeom prst="roundRect">
            <a:avLst>
              <a:gd name="adj" fmla="val 12000"/>
            </a:avLst>
          </a:prstGeom>
          <a:solidFill>
            <a:srgbClr val="0B1B3B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WITH ROCKETRFP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50292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Mon AM  ·  Upload RFP, review extracted checklist (15 min)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Mon AM  ·  AI drafts 60–80% from your knowledge base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Mon PM  ·  SMEs review the flagged gaps in the canvas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Mon PM  ·  Export in original format, route for approval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Tue       ·  Submitted. The rest of the week is new pipeline.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1B3B"/>
                </a:solidFill>
                <a:latin typeface="Inter"/>
              </a:rPr>
              <a:t>RocketRFP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Inter"/>
              </a:rPr>
              <a:t>Confidential  ·  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THE 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B3B"/>
                </a:solidFill>
                <a:latin typeface="Inter"/>
              </a:rPr>
              <a:t>End to end, in five steps.</a:t>
            </a:r>
          </a:p>
        </p:txBody>
      </p:sp>
      <p:pic>
        <p:nvPicPr>
          <p:cNvPr id="6" name="Picture 5" descr="02-user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91672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1B3B"/>
                </a:solidFill>
                <a:latin typeface="Inter"/>
              </a:rPr>
              <a:t>Total time per response: 2–4 hours instead of 3–7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1B3B"/>
                </a:solidFill>
                <a:latin typeface="Inter"/>
              </a:rPr>
              <a:t>RocketRFP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Inter"/>
              </a:rPr>
              <a:t>Confidential  ·  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SECURITY &amp;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B3B"/>
                </a:solidFill>
                <a:latin typeface="Inter"/>
              </a:rPr>
              <a:t>Your data stays yours.</a:t>
            </a:r>
          </a:p>
        </p:txBody>
      </p:sp>
      <p:pic>
        <p:nvPicPr>
          <p:cNvPr id="6" name="Picture 5" descr="05-security-is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7724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6916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1945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Inter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1945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Inter"/>
              </a:rPr>
              <a:t>Per-tenant isolation — your KB never touches another customer's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Inter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9718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Inter"/>
              </a:rPr>
              <a:t>Encrypted at rest and in transit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749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Inter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7490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Inter"/>
              </a:rPr>
              <a:t>SSO + role-based access (admin / reviewer / contributor)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526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Inter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45262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Inter"/>
              </a:rPr>
              <a:t>Signed, expiring file URLs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3035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Inter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53035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Inter"/>
              </a:rPr>
              <a:t>Optional private/local LLM for sensitive sectors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1B3B"/>
                </a:solidFill>
                <a:latin typeface="Inter"/>
              </a:rPr>
              <a:t>RocketRFP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Inter"/>
              </a:rPr>
              <a:t>Confidential  ·  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COMMON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B3B"/>
                </a:solidFill>
                <a:latin typeface="Inter"/>
              </a:rPr>
              <a:t>What customers ask first.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532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B1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B3B"/>
                </a:solidFill>
                <a:latin typeface="Inter"/>
              </a:rPr>
              <a:t>Does this replace my proposal team?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9834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Inter"/>
              </a:rPr>
              <a:t>No. It removes the copy-paste tax so they spend their time on strategy, win themes, and customer relationships — the work that actually wins bids.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532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B1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B3B"/>
                </a:solidFill>
                <a:latin typeface="Inter"/>
              </a:rPr>
              <a:t>How accurate is the AI-generated content?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9834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Inter"/>
              </a:rPr>
              <a:t>Every answer is sourced from your own knowledge base and tagged with confidence. Low-confidence items are flagged for human review before export.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5532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B1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B3B"/>
                </a:solidFill>
                <a:latin typeface="Inter"/>
              </a:rPr>
              <a:t>What about confidentiality and our IP?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49834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Inter"/>
              </a:rPr>
              <a:t>Per-tenant data isolation, encryption, signed URLs, and an optional private LLM mode for regulated industries. You decide what's ingested.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532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B1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B3B"/>
                </a:solidFill>
                <a:latin typeface="Inter"/>
              </a:rPr>
              <a:t>How long until we see value?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983480"/>
            <a:ext cx="49834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Inter"/>
              </a:rPr>
              <a:t>First completed RFP typically inside week one. The knowledge base — and the speed — compounds with every response after that.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1B3B"/>
                </a:solidFill>
                <a:latin typeface="Inter"/>
              </a:rPr>
              <a:t>RocketRFP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Inter"/>
              </a:rPr>
              <a:t>Confidential  ·  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09728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THE PATH TO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B1B3B"/>
                </a:solidFill>
                <a:latin typeface="Inter"/>
              </a:rPr>
              <a:t>What changes in your first 30 days.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70332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B1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B3B"/>
                </a:solidFill>
                <a:latin typeface="Inter"/>
              </a:rPr>
              <a:t>Stand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31546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Inter"/>
              </a:rPr>
              <a:t>Connect your first knowledge sources. Run RocketRFP against a live RFP alongside your normal process. Compare outputs.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70332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B1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B3B"/>
                </a:solidFill>
                <a:latin typeface="Inter"/>
              </a:rPr>
              <a:t>Switch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00400"/>
            <a:ext cx="31546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Inter"/>
              </a:rPr>
              <a:t>Your team drafts inside the canvas. SMEs review flagged gaps. First proposal submitted from RocketRFP.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70332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031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WEEKS 3–4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688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B3B"/>
                </a:solidFill>
                <a:latin typeface="Inter"/>
              </a:rPr>
              <a:t>Scale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00400"/>
            <a:ext cx="31546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Inter"/>
              </a:rPr>
              <a:t>Multiple proposals in flight in parallel. Won outcomes feed back into the KB. Time-to-first-draft drops measurably.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B1B3B"/>
                </a:solidFill>
                <a:latin typeface="Inter"/>
              </a:rPr>
              <a:t>Outcome: more bids answered, less senior time burned, a knowledge asset that grows.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B1B3B"/>
                </a:solidFill>
                <a:latin typeface="Inter"/>
              </a:rPr>
              <a:t>RocketRFP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Inter"/>
              </a:rPr>
              <a:t>Confidential  ·  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548640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Rocket</a:t>
            </a:r>
            <a:r>
              <a:rPr sz="4400" b="1">
                <a:solidFill>
                  <a:srgbClr val="FF6B35"/>
                </a:solidFill>
                <a:latin typeface="Inter"/>
              </a:rPr>
              <a:t>RFP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Let's run RocketRFP against one of your live RFPs.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Inter"/>
              </a:rPr>
              <a:t>30-minute working session. We'll show you the draft your team would have spent three days producing.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97680"/>
            <a:ext cx="1033272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4348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Inter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754880"/>
            <a:ext cx="9784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Inter"/>
              </a:rPr>
              <a:t>1.  Pick one in-flight RFP to use as the test.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Inter"/>
              </a:rPr>
              <a:t>2.  We connect a starter set of your knowledge base materials.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Inter"/>
              </a:rPr>
              <a:t>3.  Working session — first draft on screen, end of meeting.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Inter"/>
              </a:rPr>
              <a:t>[ Austin's contact details — name, title, email, phone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